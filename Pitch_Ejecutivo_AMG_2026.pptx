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2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0B8B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37160"/>
            <a:ext cx="12188952" cy="45720"/>
          </a:xfrm>
          <a:prstGeom prst="rect">
            <a:avLst/>
          </a:prstGeom>
          <a:solidFill>
            <a:srgbClr val="88702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SISTEMA AMG 2026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Ecosistema de comunicación</a:t>
            </a:r>
            <a:endParaRPr lang="en-US" sz="5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amplificado por IA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México Sin Cáncer Gástrico · Carnot Ki-CAB · Aval AMG · Mayo–Diciembre 2026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530352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53035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Pitch Ejecutivo v1.1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58978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Preparado por Polar Multimedia · Abril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problema que nadie ve hasta que es tarde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657600" cy="2560320"/>
          </a:xfrm>
          <a:prstGeom prst="roundRect">
            <a:avLst>
              <a:gd name="adj" fmla="val 535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de 10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mexicanos portan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H. pylori sin saberlo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645920"/>
            <a:ext cx="3657600" cy="2560320"/>
          </a:xfrm>
          <a:prstGeom prst="roundRect">
            <a:avLst>
              <a:gd name="adj" fmla="val 535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182880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i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90%</a:t>
            </a:r>
            <a:endParaRPr lang="en-US" sz="5800" dirty="0"/>
          </a:p>
        </p:txBody>
      </p:sp>
      <p:sp>
        <p:nvSpPr>
          <p:cNvPr id="10" name="Text 8"/>
          <p:cNvSpPr/>
          <p:nvPr/>
        </p:nvSpPr>
        <p:spPr>
          <a:xfrm>
            <a:off x="4434840" y="30175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cáncer gástrico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 con esta bacteria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321040" y="1645920"/>
            <a:ext cx="3657600" cy="2560320"/>
          </a:xfrm>
          <a:prstGeom prst="roundRect">
            <a:avLst>
              <a:gd name="adj" fmla="val 535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182880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i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años</a:t>
            </a:r>
            <a:endParaRPr lang="en-US" sz="5800" dirty="0"/>
          </a:p>
        </p:txBody>
      </p:sp>
      <p:sp>
        <p:nvSpPr>
          <p:cNvPr id="13" name="Text 11"/>
          <p:cNvSpPr/>
          <p:nvPr/>
        </p:nvSpPr>
        <p:spPr>
          <a:xfrm>
            <a:off x="8321040" y="30175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infección silenciosa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antes de síntomas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66344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Detectar H. pylori a tiempo y erradicarla reduce en 46% el riesgo absoluto de desarrollar cáncer gástrico. Y sin embargo, la mayoría de mexicanos no sabe que la porta — ni los médicos tienen las herramientas para detectarla rutinariamente.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Ford AC et al. Cochrane Database 2020 · IARC Monographs · Porras-Hurtado GL 2019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21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RESPUESTA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sistema integral de 5 capas interdependientes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85800" cy="685800"/>
          </a:xfrm>
          <a:prstGeom prst="ellipse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5448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417320" y="15727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Fuente de verdad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17320" y="193852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Brief estratégico, calendario editorial, canon visual, corpus de mensajes aprobados, matriz compliance.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685800" cy="68580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231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417320" y="24414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Producción amplificada IA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17320" y="28072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Generación de imágenes hiper-realistas, redacción multi-formato, adaptación a 4 aspect ratios.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685800" cy="68580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291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417320" y="33101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Revisión colaborativa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367588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 interno con sidebar Dreamweaver, Firebase real-time, múltiples revisores simultáneos.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685800" cy="68580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1605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417320" y="41788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Distribución multi-canal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17320" y="454456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público · redes sociales · Visita Médica PWA · pack KOLs.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685800" cy="685800"/>
          </a:xfrm>
          <a:prstGeom prst="ellipse">
            <a:avLst/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02920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417320" y="504748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Medición y loop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17320" y="54132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heterogéneos sintetizados por IA en insights accionables que alimentan el ciclo siguiente.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21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 1 · STRATEGY LAYER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Fuente única de verdad · skill amg-pylori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669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 la inteligencia estratégica aprobada vive en un único artefacto invocable por Claude. Antes de producir cualquier pieza, cualquier colaborador humano o IA lo consulta.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127248"/>
            <a:ext cx="73152" cy="18288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017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Brief estratégico de 8 meses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538728"/>
            <a:ext cx="73152" cy="18288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429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Calendario editorial (12 claims × 35 semanas)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950208"/>
            <a:ext cx="73152" cy="18288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40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Canon visual inviolable (paleta, franja, halo, V0-V6)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361688"/>
            <a:ext cx="73152" cy="18288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251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Corpus de mensajes aprobados Carnot+AMG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73168"/>
            <a:ext cx="73152" cy="18288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663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Referencias bibliográficas por claim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184648"/>
            <a:ext cx="73152" cy="18288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074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de compliance pharma MX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146304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1691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PRINCIPIO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03720" y="20116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IA nunca inventa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903720" y="26974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0DE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recombina, expande y adapta contenido que ya fue aprobado por Carnot y AMG.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903720" y="3931920"/>
            <a:ext cx="4572000" cy="0"/>
          </a:xfrm>
          <a:prstGeom prst="line">
            <a:avLst/>
          </a:prstGeom>
          <a:noFill/>
          <a:ln w="12700">
            <a:solidFill>
              <a:srgbClr val="30B8B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03720" y="4023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Cadena de custodia: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03720" y="434340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Brief clínico Carnot  →  Libro AMG  →  Skill amg-pylori  →  Claude valida  →  Pieza final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 2 · CREATION LAYER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IA produce en horas lo que antes tomaba semanas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657600" cy="36576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1691640"/>
            <a:ext cx="914400" cy="91440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1691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🎨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Generación visual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gpt-image-1 (GPT Image 2)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fotos hiper-realistas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Personajes hispanos con prompt canónico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1463040"/>
            <a:ext cx="3657600" cy="36576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183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06440" y="1691640"/>
            <a:ext cx="914400" cy="914400"/>
          </a:xfrm>
          <a:prstGeom prst="ellipse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06440" y="1691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✍️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61772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Redacción multi-red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17720" y="32461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escribe copy específico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plataforma (IG, TikTok, FB, LI)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salirse del corpus aprobado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321040" y="1463040"/>
            <a:ext cx="3657600" cy="36576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92640" y="1691640"/>
            <a:ext cx="914400" cy="914400"/>
          </a:xfrm>
          <a:prstGeom prst="ellipse">
            <a:avLst/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0" y="1691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📐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50392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Adaptación 4 formatos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03920" y="32461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· 4:5 · 9:16 · 16:9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Recalcula jerarquía visual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cada pieza, no solo resize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4864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83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Resultado: 175 piezas finales para 8 meses de campaña producidas en días, con coherencia de canon 100% y 0 desviaciones de compliance.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21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 3 · APPROVAL LAYER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Hub colaborativo con sincronización en tiempo real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6400800" cy="4389120"/>
          </a:xfrm>
          <a:prstGeom prst="roundRect">
            <a:avLst>
              <a:gd name="adj" fmla="val 2083"/>
            </a:avLst>
          </a:prstGeom>
          <a:solidFill>
            <a:srgbClr val="0D1730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463040"/>
            <a:ext cx="6400800" cy="45720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5448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sistema_piezas_AMG_Hub.html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219456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91640" y="219456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0" y="219456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219456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219456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66360" y="219456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24612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91640" y="324612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60320" y="324612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29000" y="324612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97680" y="324612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66360" y="324612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29768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91640" y="429768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60320" y="429768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29000" y="429768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97680" y="429768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66360" y="4297680"/>
            <a:ext cx="731520" cy="914400"/>
          </a:xfrm>
          <a:prstGeom prst="roundRect">
            <a:avLst>
              <a:gd name="adj" fmla="val 6250"/>
            </a:avLst>
          </a:prstGeom>
          <a:solidFill>
            <a:srgbClr val="183888"/>
          </a:solidFill>
          <a:ln w="6350">
            <a:solidFill>
              <a:srgbClr val="30B8B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0" y="1920240"/>
            <a:ext cx="1828800" cy="3931920"/>
          </a:xfrm>
          <a:prstGeom prst="rect">
            <a:avLst/>
          </a:prstGeom>
          <a:solidFill>
            <a:srgbClr val="0D2248"/>
          </a:solidFill>
          <a:ln w="12700">
            <a:solidFill>
              <a:srgbClr val="0D224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12080" y="21031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Sidebar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12080" y="2468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📝 Texto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12080" y="28803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🖼 Imagen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212080" y="3291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🎖 Sello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212080" y="37033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ℹ Pieza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9808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hub es uno de los diferenciadores del sistema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498080" y="210312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Reemplaza 20 correos de revisión con 1 sesión síncrona de 30 minutos donde Polar, Carnot, AMG y KOLs ven el mismo estado en tiempo real.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498080" y="3730752"/>
            <a:ext cx="128016" cy="128016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0" y="365760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Edición multi-usuario en vivo (Firebase RTDB)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498080" y="4050792"/>
            <a:ext cx="128016" cy="128016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0" y="397764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Dreamweaver: Character/Paragraph/Caja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0" y="4370832"/>
            <a:ext cx="128016" cy="128016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0" y="42976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Generación IA de imagen integrada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498080" y="4690872"/>
            <a:ext cx="128016" cy="128016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0" y="46177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Bitácora de cambios con timestamp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498080" y="5010912"/>
            <a:ext cx="128016" cy="128016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0" y="49377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Aprobación pieza-por-pieza con estado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21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 4 · DEPLOY LAYER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ductos, 4 audiencias, 1 sistema unificado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828800" y="17830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Portal público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228600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mexicosincancergastrico.com.mx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+ artículos + detección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Abierto al paciente general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183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498080" y="17830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Redes sociales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498080" y="228600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Instagram · TikTok · Facebook · LinkedIn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19-22 piezas/semana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Calendario programado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14800"/>
            <a:ext cx="822960" cy="822960"/>
          </a:xfrm>
          <a:prstGeom prst="ellipse">
            <a:avLst/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114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🩺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828800" y="41605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Visita Médica PWA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828800" y="466344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reps · Tablets Android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Offline-first · 4 interactivos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Firebase cuando hay wifi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384048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4114800"/>
            <a:ext cx="822960" cy="82296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114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498080" y="41605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Pack KOLs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98080" y="466344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influencers médicos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 mensual con artes + copy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Amplificación orgánica HCP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21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22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 5 · ANALYTICS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loop que hace al sistema inteligente mes con mes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286000" y="210312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183888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2331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Publicación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86000" y="2834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Redes + hub + VM + KOLs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210312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183888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2331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Captura data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0" y="2834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APIs + Firebase + IMS Rx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0" y="457200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183888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0" y="4800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Síntesis 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0" y="53035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Performance report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0" y="457200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183888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4800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Decisión ciclo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286000" y="53035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Calendario + pauta próxima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0" y="2788920"/>
            <a:ext cx="3200400" cy="0"/>
          </a:xfrm>
          <a:prstGeom prst="line">
            <a:avLst/>
          </a:prstGeom>
          <a:noFill/>
          <a:ln w="38100">
            <a:solidFill>
              <a:srgbClr val="30B8B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915400" y="3474720"/>
            <a:ext cx="0" cy="1097280"/>
          </a:xfrm>
          <a:prstGeom prst="line">
            <a:avLst/>
          </a:prstGeom>
          <a:noFill/>
          <a:ln w="38100">
            <a:solidFill>
              <a:srgbClr val="30B8B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772400" y="5257800"/>
            <a:ext cx="-3200400" cy="0"/>
          </a:xfrm>
          <a:prstGeom prst="line">
            <a:avLst/>
          </a:prstGeom>
          <a:noFill/>
          <a:ln w="38100">
            <a:solidFill>
              <a:srgbClr val="30B8B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4572000"/>
            <a:ext cx="0" cy="-1097280"/>
          </a:xfrm>
          <a:prstGeom prst="line">
            <a:avLst/>
          </a:prstGeom>
          <a:noFill/>
          <a:ln w="38100">
            <a:solidFill>
              <a:srgbClr val="30B8B0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mes el sistema aprende de sí mismo. El vector "performance histórica" pesa 25% en el modelo de decisión del ciclo siguiente.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21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AMPLIFICACIÓN POR IA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antes tomaba meses, hoy toma días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697480" cy="2011680"/>
          </a:xfrm>
          <a:prstGeom prst="roundRect">
            <a:avLst>
              <a:gd name="adj" fmla="val 6818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i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175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piezas finales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Campaña completa 8 meses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645920"/>
            <a:ext cx="2697480" cy="2011680"/>
          </a:xfrm>
          <a:prstGeom prst="roundRect">
            <a:avLst>
              <a:gd name="adj" fmla="val 6818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737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i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48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3429000" y="28346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fotos hiper-realistas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32004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Personajes hispanos IA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09360" y="1645920"/>
            <a:ext cx="2697480" cy="2011680"/>
          </a:xfrm>
          <a:prstGeom prst="roundRect">
            <a:avLst>
              <a:gd name="adj" fmla="val 6818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737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i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6400" dirty="0"/>
          </a:p>
        </p:txBody>
      </p:sp>
      <p:sp>
        <p:nvSpPr>
          <p:cNvPr id="15" name="Text 13"/>
          <p:cNvSpPr/>
          <p:nvPr/>
        </p:nvSpPr>
        <p:spPr>
          <a:xfrm>
            <a:off x="6309360" y="28346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claims clínicos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09360" y="32004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 4 formatos × 7 variantes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189720" y="1645920"/>
            <a:ext cx="2697480" cy="2011680"/>
          </a:xfrm>
          <a:prstGeom prst="roundRect">
            <a:avLst>
              <a:gd name="adj" fmla="val 6818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89720" y="1737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i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400" dirty="0"/>
          </a:p>
        </p:txBody>
      </p:sp>
      <p:sp>
        <p:nvSpPr>
          <p:cNvPr id="19" name="Text 17"/>
          <p:cNvSpPr/>
          <p:nvPr/>
        </p:nvSpPr>
        <p:spPr>
          <a:xfrm>
            <a:off x="9189720" y="28346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días por ciclo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89720" y="32004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12-15 tradicionales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TRADICIONAL sin IA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11064240" cy="45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~14 días por ciclo · 3 diseñadores + 2 copys + editor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074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 IA · Sistema Polar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393192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3949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días por ciclo · 1 director creativo + Claude + gpt-image-1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21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HUB DE REVISIÓN · USO INTERNO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Sidebar contextual con edición estilo Dreamweaver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858000" cy="4572000"/>
          </a:xfrm>
          <a:prstGeom prst="rect">
            <a:avLst/>
          </a:prstGeom>
          <a:solidFill>
            <a:srgbClr val="0F1629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54480"/>
            <a:ext cx="6858000" cy="41148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45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 AMG — Modo Revisión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965960"/>
            <a:ext cx="2103120" cy="4160520"/>
          </a:xfrm>
          <a:prstGeom prst="rect">
            <a:avLst/>
          </a:prstGeom>
          <a:solidFill>
            <a:srgbClr val="0D1730"/>
          </a:solidFill>
          <a:ln w="12700">
            <a:solidFill>
              <a:srgbClr val="0D17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📝 Texto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4924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🖼 Imagen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49240" y="27432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🎖 Sello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349240" y="30632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ℹ Pieza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49240" y="35661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CHARACTER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349240" y="38404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DE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Family   Montserrat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49240" y="409651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DE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      32px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349240" y="435254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DE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Weight 800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49240" y="460857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DE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   #30B8B0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22960" y="228600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0F0F5"/>
          </a:solidFill>
          <a:ln w="6350">
            <a:solidFill>
              <a:srgbClr val="9CA3A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265176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de 10</a:t>
            </a:r>
            <a:endParaRPr lang="en-US" sz="6800" dirty="0"/>
          </a:p>
        </p:txBody>
      </p:sp>
      <p:sp>
        <p:nvSpPr>
          <p:cNvPr id="20" name="Text 18"/>
          <p:cNvSpPr/>
          <p:nvPr/>
        </p:nvSpPr>
        <p:spPr>
          <a:xfrm>
            <a:off x="822960" y="4114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mexicanos la portan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0" y="16459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Diferenciador técnico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772400" y="2304288"/>
            <a:ext cx="9144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01000" y="21945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Edición en vivo Firebase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01000" y="25146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Múltiples revisores ven cambios al instante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72400" y="3081528"/>
            <a:ext cx="9144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1000" y="2971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Character &amp; Paragraph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001000" y="3291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Family, size, weight, color, alignment, tracking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3858768"/>
            <a:ext cx="9144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1000" y="37490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Caja (contenedor)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01000" y="4069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Modifica dimensiones y padding del texto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772400" y="4636008"/>
            <a:ext cx="9144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01000" y="45262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Generación IA integrada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01000" y="48463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Botón 🎨 regenera foto con prompt canónico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772400" y="5413248"/>
            <a:ext cx="9144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01000" y="53035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Bitácora de saves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001000" y="5623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Timestamp, autor y estado de cada edición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21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VISITA MÉDICA PWA · 150 REPS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interactivos que transforman el detailing en consultorio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737360" y="17830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Calculadora de riesgo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37360" y="2240280"/>
            <a:ext cx="4206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preguntas clínicas · Score 0-17 · Semáforo de riesgo · Recomendación de prueba basada en Maastricht VI.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4864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5400">
            <a:solidFill>
              <a:srgbClr val="183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828800"/>
            <a:ext cx="731520" cy="731520"/>
          </a:xfrm>
          <a:prstGeom prst="ellipse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🧬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406640" y="17830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Visor 3D anatómico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406640" y="2240280"/>
            <a:ext cx="4206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Estómago navegable (Three.js) con hotspots de progresión Correa: mucosa sana → gastritis → atrofia → metaplasia → displasia → cáncer.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54864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51960"/>
            <a:ext cx="731520" cy="731520"/>
          </a:xfrm>
          <a:prstGeom prst="ellipse">
            <a:avLst/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251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737360" y="420624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Comparador Ki-CAB vs triple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737360" y="4663440"/>
            <a:ext cx="4206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Eficacia 92% vs 74% · 7 vs 14 días · Resistencia claritromicina por región de México · Interacciones farmacológicas.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886200"/>
            <a:ext cx="54864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4251960"/>
            <a:ext cx="731520" cy="73152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251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406640" y="420624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QR de seguimiento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06640" y="4663440"/>
            <a:ext cx="4206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Formulario de cierre de visita · Genera QR personalizado que el médico escanea · Se sincroniza a dashboard Polar.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instalable desde navegador · funciona sin wifi · sincroniza analytics al volver a oficina.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21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PORTAL PÚBLICO · PACIENTE Y MÉDICO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mexicosincancergastrico.com.mx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0D2248"/>
          </a:solidFill>
          <a:ln w="12700">
            <a:solidFill>
              <a:srgbClr val="0D22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Hero institucional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¿Tu estómago tiene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Helicobacter pylori?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E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7/10 mexicanos portan esta bacteria. 90% del cáncer gástrico inicia con ella. Una prueba de 20 minutos puede cambiarlo todo.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521208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5212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Participa gratis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15544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secciones navegables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457200" cy="45720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4088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Hero de impacto + 3 cifras fuertes de campaña + aval AMG visible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3154680"/>
            <a:ext cx="457200" cy="45720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040880" y="3108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Artículos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40880" y="3429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Biblioteca educativa para pacientes · crece cada mes del ciclo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4023360"/>
            <a:ext cx="457200" cy="45720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040880" y="3977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Detección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040880" y="42976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Landing de registro gratuito a campaña de prueba de aliento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4892040"/>
            <a:ext cx="457200" cy="45720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4892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040880" y="48463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médicos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40880" y="51663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Evidencia clínica + referencias Maastricht + acceso a Ki-CAB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INFLUENCERS MÉDICOS (KOLs) · 6 PERFILES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Roster contratado para amplificación orgánica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4864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5400">
            <a:solidFill>
              <a:srgbClr val="1838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087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08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25880" y="1463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Dr. Luis Raúl Valdovinos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25880" y="1783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83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AMG Institucional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10312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HCP especialista  ·  Aval institucional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0" y="2331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 de eficacia de erradicación &gt;90% en materiales con marca Ki-CAB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31520" y="2615184"/>
            <a:ext cx="5120640" cy="201168"/>
          </a:xfrm>
          <a:prstGeom prst="rect">
            <a:avLst/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61518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Convenio Polar-AMG (sin costo)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54864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15087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508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995160" y="1463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@doctormiguelpadilla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95160" y="1783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1 · Médico familiar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210312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Pacientes y cuidadores  ·  100K+ seguidores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0" y="2331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Reels + 3 Stories/mes · Eje "Por qué la gastritis recurrente merece segunda opinión"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0800" y="2615184"/>
            <a:ext cx="5120640" cy="201168"/>
          </a:xfrm>
          <a:prstGeom prst="rect">
            <a:avLst/>
          </a:prstGeom>
          <a:solidFill>
            <a:srgbClr val="F0FAFA"/>
          </a:solidFill>
          <a:ln w="12700">
            <a:solidFill>
              <a:srgbClr val="F0FA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261518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$25,000 – $40,000 MXN / mes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3017520"/>
            <a:ext cx="54864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15468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15468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325880" y="3108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@pologuerrero.med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25880" y="3429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1 · Médico humor y trend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" y="374904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Adultos 25-40 preventivos  ·  80K+ seguidores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31520" y="39776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TikToks + 2 Reels/mes · Gancho "7 de cada 10 mexicanos la tienen"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61104"/>
            <a:ext cx="5120640" cy="201168"/>
          </a:xfrm>
          <a:prstGeom prst="rect">
            <a:avLst/>
          </a:prstGeom>
          <a:solidFill>
            <a:srgbClr val="F0FAFA"/>
          </a:solidFill>
          <a:ln w="12700">
            <a:solidFill>
              <a:srgbClr val="F0FA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426110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$20,000 – $35,000 MXN / mes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17920" y="3017520"/>
            <a:ext cx="54864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315468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315468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3108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@drasuarezgastro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95160" y="3429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70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2 · Gastroenteróloga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0" y="374904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Pacientes GI + médicos generales  ·  30K – 60K seguidores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400800" y="39776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posts/mes (carrusel + Reel) · Eje "Lo que tu gastro quiere que sepas"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0800" y="4261104"/>
            <a:ext cx="5120640" cy="201168"/>
          </a:xfrm>
          <a:prstGeom prst="rect">
            <a:avLst/>
          </a:prstGeom>
          <a:solidFill>
            <a:srgbClr val="F0FAFA"/>
          </a:solidFill>
          <a:ln w="12700">
            <a:solidFill>
              <a:srgbClr val="F0FA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0" y="426110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$10,000 – $18,000 MXN / mes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4663440"/>
            <a:ext cx="54864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1520" y="480060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48006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325880" y="4754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@doclaurasalazar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325880" y="5074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70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3 · Salud preventiva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31520" y="53949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Mujeres 30-50, salud familiar  ·  15K – 30K seguidores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31520" y="5623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Stories + 1 Reel/mes · Eje "La bacteria que pasa de mamá a hijos"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31520" y="5907024"/>
            <a:ext cx="5120640" cy="201168"/>
          </a:xfrm>
          <a:prstGeom prst="rect">
            <a:avLst/>
          </a:prstGeom>
          <a:solidFill>
            <a:srgbClr val="F0FAFA"/>
          </a:solidFill>
          <a:ln w="12700">
            <a:solidFill>
              <a:srgbClr val="F0FAF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90702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$5,000 – $10,000 MXN / mes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217920" y="4663440"/>
            <a:ext cx="54864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00800" y="480060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00800" y="48006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T3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995160" y="4754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@doctorvic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995160" y="5074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70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3 · Audiencia joven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400800" y="53949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Millennials + GenZ  ·  20K – 40K seguidores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400800" y="5623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TikToks/mes · Eje "La prueba de aliento que ni sabías que existe"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400800" y="5907024"/>
            <a:ext cx="5120640" cy="201168"/>
          </a:xfrm>
          <a:prstGeom prst="rect">
            <a:avLst/>
          </a:prstGeom>
          <a:solidFill>
            <a:srgbClr val="F0FAFA"/>
          </a:solidFill>
          <a:ln w="12700">
            <a:solidFill>
              <a:srgbClr val="F0FAF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0" y="5907024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$5,000 – $8,000 MXN / mes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48640" y="6309360"/>
            <a:ext cx="11064240" cy="274320"/>
          </a:xfrm>
          <a:prstGeom prst="roundRect">
            <a:avLst>
              <a:gd name="adj" fmla="val 16667"/>
            </a:avLst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1520" y="630936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83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Rango total pool influencers pagados: $65,000 – $111,000 MXN/mes · Los KOLs institucionales AMG (Valdovinos, Coss Adame, Noble) participan sin costo por convenio.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21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PACK DE CICLO · KOLs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cada influencer médico recibe cada mes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🧬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00200" y="17830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Brief clínico del ciclo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24028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2-3 referencias bibliográficas clave + claim médico del mes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55448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1828800"/>
            <a:ext cx="640080" cy="64008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✍️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0" y="17830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Copy sugerido en su voz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0" y="224028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Adaptado por red (LinkedIn · X · IG · TikTok) y por KOL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321040" y="155448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0" y="1828800"/>
            <a:ext cx="640080" cy="64008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372600" y="17830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Artes listas para publicar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372600" y="224028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paleta ligada a campaña + sello AMG + hashtag #MéxicoSinCáncerGástrico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6576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3931920"/>
            <a:ext cx="640080" cy="64008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600200" y="38862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Video intro 30s Carnot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600200" y="43434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Contextualización del mes grabada por dirección médica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34840" y="36576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09160" y="3931920"/>
            <a:ext cx="640080" cy="64008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486400" y="38862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Guía de conversación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0" y="43434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escenarios de preguntas típicas y cómo responder con evidencia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321040" y="36576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0" y="3931920"/>
            <a:ext cx="640080" cy="640080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9372600" y="38862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UTM propio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372600" y="43434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único por KOL para medir conversiones atribuidas a cada uno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pack se entrega desde el hub con URL privada única por KOL. Contrato incluye cláusula compliance COFEPRIS + CETIFARMA + derecho de auditoría AMG.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CALENDARIO EDITORIAL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ciclos mensuales · 12 claims clínicos · 35 semanas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1838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54480"/>
            <a:ext cx="2697480" cy="45720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MAY · Ciclo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103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bacteria silenciosa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606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7/10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971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90%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29000" y="1554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30B8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54480"/>
            <a:ext cx="269748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 · Ciclo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66160" y="2103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Diagnóstico sin pretextos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6160" y="2606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pruebas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66160" y="2971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48 hrs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1554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8870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554480"/>
            <a:ext cx="2697480" cy="457200"/>
          </a:xfrm>
          <a:prstGeom prst="rect">
            <a:avLst/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 · Ciclo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46520" y="2103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Tratamiento que funciona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46520" y="2606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92%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46520" y="2971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días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189720" y="1554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1838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89720" y="1554480"/>
            <a:ext cx="2697480" cy="45720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89720" y="1554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AGO · Ciclo 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26880" y="2103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Atrofia y metaplasia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26880" y="2606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riesgo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326880" y="2971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vigilancia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3840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30B8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840480"/>
            <a:ext cx="269748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840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 · Ciclo 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5800" y="4389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Adherencia y seguimiento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85800" y="4892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89%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" y="5257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éxito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429000" y="3840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88702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29000" y="3840480"/>
            <a:ext cx="2697480" cy="457200"/>
          </a:xfrm>
          <a:prstGeom prst="rect">
            <a:avLst/>
          </a:prstGeom>
          <a:solidFill>
            <a:srgbClr val="887028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29000" y="3840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OCT · Ciclo 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566160" y="4389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Reflujo y úlceras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566160" y="4892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2×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566160" y="5257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complicación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309360" y="3840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1838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9360" y="3840480"/>
            <a:ext cx="2697480" cy="45720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3840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NOV · Ciclo 7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46520" y="4389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Prevención y evidencia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446520" y="4892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&gt;90%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46520" y="5257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curación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189720" y="384048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30B8B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89720" y="3840480"/>
            <a:ext cx="2697480" cy="45720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89720" y="38404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DIC · Ciclo 8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9326880" y="43891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Cierre y regalo de salud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326880" y="48920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Familia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9326880" y="52578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Claridad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21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MÉTRICAS POR RED SOCIAL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red se mide con lo que importa en ESA red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10312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554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51760" y="1554480"/>
            <a:ext cx="246888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24912" y="15544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 de atención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20640" y="1554480"/>
            <a:ext cx="228600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93792" y="15544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 de utilidad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406640" y="1554480"/>
            <a:ext cx="274320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79792" y="15544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 de conversión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149840" y="1554480"/>
            <a:ext cx="14630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22992" y="15544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Volumen/semana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057400"/>
            <a:ext cx="2103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0574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Instagram Feed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51760" y="2057400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20574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 3.2%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120640" y="205740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3792" y="20574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2.1%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06640" y="205740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9792" y="2057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CTR 1.8%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149840" y="2057400"/>
            <a:ext cx="14630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22992" y="205740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2606040"/>
            <a:ext cx="210312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26060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IG Stories/Reels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651760" y="2606040"/>
            <a:ext cx="246888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24912" y="26060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Watch-through 65%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120640" y="2606040"/>
            <a:ext cx="228600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93792" y="26060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Tap-back 8%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406640" y="2606040"/>
            <a:ext cx="274320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79792" y="2606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 CTR 2.5%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149840" y="2606040"/>
            <a:ext cx="146304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222992" y="26060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5+2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3154680"/>
            <a:ext cx="2103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" y="31546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TikTok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651760" y="3154680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24912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&gt;3s 78%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120640" y="315468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93792" y="31546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42%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406640" y="315468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79792" y="31546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Shares/1K 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149840" y="3154680"/>
            <a:ext cx="14630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22992" y="31546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2-3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48640" y="3703320"/>
            <a:ext cx="210312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1792" y="37033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Facebook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651760" y="3703320"/>
            <a:ext cx="246888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24912" y="37033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12%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120640" y="3703320"/>
            <a:ext cx="228600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93792" y="37033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CTR 1.4%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406640" y="3703320"/>
            <a:ext cx="274320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79792" y="37033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0.9%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0149840" y="3703320"/>
            <a:ext cx="1463040" cy="548640"/>
          </a:xfrm>
          <a:prstGeom prst="rect">
            <a:avLst/>
          </a:prstGeom>
          <a:solidFill>
            <a:srgbClr val="F5F7FA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222992" y="37033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48640" y="4251960"/>
            <a:ext cx="2103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21792" y="4251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LinkedIn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651760" y="4251960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724912" y="42519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Impr. HCP 35%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120640" y="425196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3792" y="42519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Especialistas 2.8%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406640" y="425196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479792" y="42519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→/para-medicos 3.1%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0149840" y="4251960"/>
            <a:ext cx="14630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22992" y="42519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1-2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48640" y="4800600"/>
            <a:ext cx="11064240" cy="502920"/>
          </a:xfrm>
          <a:prstGeom prst="rect">
            <a:avLst/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0080" y="48006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3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semana (ciclo activo): 19-22 piezas publicadas en los 4 canales principales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Detalle completo en Anexo Excel · Matriz_Metricas_Calendarios_AMG_2026.xlsx (7 hojas)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22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DE DECISIÓN ALGORÍTMICA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pieza va a qué red esta semana · 7 vectores ponderados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54480"/>
            <a:ext cx="1106424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544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3736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 del ciclo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0" y="1554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Brief mensual Carnot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4884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148840"/>
            <a:ext cx="922020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14884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37360" y="2148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Performance histórica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0" y="21488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mes anterior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743200"/>
            <a:ext cx="553212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74320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Audiencia activa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0" y="27432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HCP vs paciente / día-hora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33756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337560"/>
            <a:ext cx="368808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33756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37360" y="3337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Estacionalidad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0" y="33375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Efemérides salud 2026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93192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931920"/>
            <a:ext cx="368808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39319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10%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737360" y="3931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Capacidad de producción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creativo de la semana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52628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4526280"/>
            <a:ext cx="184404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5262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5%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737360" y="4526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Disponibilidad KOL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943600" y="45262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Agendas contractuales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5120640"/>
            <a:ext cx="11064240" cy="502920"/>
          </a:xfrm>
          <a:prstGeom prst="rect">
            <a:avLst/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8640" y="5120640"/>
            <a:ext cx="1844040" cy="50292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12064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5%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737360" y="51206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Compliance override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43600" y="51206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Bloqueo si hay pendiente legal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DC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lunes Polar corre el modelo con datos actualizados. Produce ranking de piezas → Claude genera variantes → equipo revisa en hub → Carnot aprueba → se programa.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21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GOBIERNO DEL SISTEMA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actores, roles claros, SLAs medibles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54480"/>
            <a:ext cx="91440" cy="77724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Polar Multimedia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9202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Orquestador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0" y="16459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Producción + hub + PWA + pauta + reportes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686800" y="1691640"/>
            <a:ext cx="2743200" cy="502920"/>
          </a:xfrm>
          <a:prstGeom prst="roundRect">
            <a:avLst>
              <a:gd name="adj" fmla="val 49091"/>
            </a:avLst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0" y="1691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Pack semanal listo miércoles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231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423160"/>
            <a:ext cx="91440" cy="77724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4688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Carnot Laboratorios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2788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Cliente &amp; marca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0" y="2514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Validación clínica + compliance comercial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0" y="2560320"/>
            <a:ext cx="2743200" cy="502920"/>
          </a:xfrm>
          <a:prstGeom prst="roundRect">
            <a:avLst>
              <a:gd name="adj" fmla="val 49091"/>
            </a:avLst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0" y="2560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Feedback en 48 hrs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2918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291840"/>
            <a:ext cx="91440" cy="77724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3375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AMG A.C.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" y="3657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 científico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0" y="33832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Validación corpus + escudo AMG + auditoría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0" y="3429000"/>
            <a:ext cx="2743200" cy="502920"/>
          </a:xfrm>
          <a:prstGeom prst="roundRect">
            <a:avLst>
              <a:gd name="adj" fmla="val 49091"/>
            </a:avLst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0" y="34290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Aprobación científica 72 hrs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160520"/>
            <a:ext cx="91440" cy="77724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206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Fuerza de ventas (150)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" y="4526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Distribución médica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0" y="42519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Uso PWA + bitácora + sync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686800" y="4297680"/>
            <a:ext cx="2743200" cy="502920"/>
          </a:xfrm>
          <a:prstGeom prst="roundRect">
            <a:avLst>
              <a:gd name="adj" fmla="val 49091"/>
            </a:avLst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0" y="42976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visitas/semana mín.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5029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7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029200"/>
            <a:ext cx="91440" cy="777240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074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KOLs (6 pool)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77240" y="5394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0B8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Credibilidad orgánica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0" y="51206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Publicación según pack + reporte métricas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686800" y="5166360"/>
            <a:ext cx="2743200" cy="502920"/>
          </a:xfrm>
          <a:prstGeom prst="roundRect">
            <a:avLst>
              <a:gd name="adj" fmla="val 49091"/>
            </a:avLst>
          </a:prstGeom>
          <a:solidFill>
            <a:srgbClr val="E8D9B0"/>
          </a:solidFill>
          <a:ln w="12700">
            <a:solidFill>
              <a:srgbClr val="88702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8680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 dentro de semana agendada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21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RESULTADOS ESPERADOS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queremos que pase al cierre de los 8 ciclos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697480" cy="274320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2697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+500k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registros en landing detección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1645920"/>
            <a:ext cx="2697480" cy="274320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25400">
            <a:solidFill>
              <a:srgbClr val="1838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783080"/>
            <a:ext cx="2697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i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+35%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3611880" y="31089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adopción de vocabulario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H. pylori en pacientes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645920"/>
            <a:ext cx="2697480" cy="274320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783080"/>
            <a:ext cx="2697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i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+22%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6492240" y="31089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prescripciones Ki-CAB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nuevas vs baseline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89720" y="1645920"/>
            <a:ext cx="2697480" cy="274320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697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i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75k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9372600" y="31089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alcance por post KOL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comunidad HCP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183888"/>
          </a:solidFill>
          <a:ln w="12700">
            <a:solidFill>
              <a:srgbClr val="1838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8920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Métrica más importante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Reducción del 46% en riesgo absoluto de cáncer gástrico en población detectada y tratada.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21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ROADMAP PRÓXIMOS 5 CICLOS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 la misma arquitectura, capacidades crecientes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" cy="548640"/>
          </a:xfrm>
          <a:prstGeom prst="ellipse">
            <a:avLst/>
          </a:prstGeom>
          <a:solidFill>
            <a:srgbClr val="30B8B0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2194560"/>
            <a:ext cx="0" cy="27432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80160" y="1600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Abril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80160" y="1828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Piloto activo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737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ciclos (May-Jul) + 4 interactivos + PWA + KOLs Tier 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688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3017520"/>
            <a:ext cx="0" cy="27432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0160" y="2423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Agosto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80160" y="2651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v1.1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38328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Heatmap prevalencia México por estado · Timeline contagio→cáncer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0B8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291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" y="3840480"/>
            <a:ext cx="0" cy="27432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60" y="3246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Septiembre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80160" y="3474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v1.2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383280" y="3383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Simulador diálogo médico-paciente (ramificación) · PDF generator local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11480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8702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114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22960" y="4663440"/>
            <a:ext cx="0" cy="27432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0160" y="4069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870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Octubre-Nov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80160" y="4297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v1.3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383280" y="4206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gerencia 150 reps en tiempo real · KOLs Tier 2 y 3 activados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93776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838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4892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Diciembre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80160" y="5120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v2.0 &amp; cierre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383280" y="5029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3D .glb alta fidelidad · Audio embebido · Reporte institucional cierre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Sistema AMG 2026 · Confidencial Carnot/AMG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22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0B8B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37160"/>
            <a:ext cx="12188952" cy="45720"/>
          </a:xfrm>
          <a:prstGeom prst="rect">
            <a:avLst/>
          </a:prstGeom>
          <a:solidFill>
            <a:srgbClr val="88702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20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GRACIAS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914400" y="2834640"/>
            <a:ext cx="2743200" cy="0"/>
          </a:xfrm>
          <a:prstGeom prst="line">
            <a:avLst/>
          </a:prstGeom>
          <a:noFill/>
          <a:ln w="38100">
            <a:solidFill>
              <a:srgbClr val="30B8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CE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Sistema AMG 2026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35204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Listo para empezar el ciclo 3 · Julio 2026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0B8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Próximos pasos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4773168"/>
            <a:ext cx="164592" cy="164592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47091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Confirmar roster final de KOLs Tier 1 · contratar Tier 2 y 3 en reclutamiento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5138928"/>
            <a:ext cx="164592" cy="164592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5074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Revisión conjunta Polar-Carnot-AMG del piloto ciclo 1 al cierre de mayo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5504688"/>
            <a:ext cx="164592" cy="164592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54406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 de 150 reps a la Visita Médica PWA (2 sesiones en mayo)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5870448"/>
            <a:ext cx="164592" cy="164592"/>
          </a:xfrm>
          <a:prstGeom prst="ellipse">
            <a:avLst/>
          </a:prstGeom>
          <a:solidFill>
            <a:srgbClr val="30B8B0"/>
          </a:solidFill>
          <a:ln w="12700">
            <a:solidFill>
              <a:srgbClr val="30B8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58064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Aprobación de ajustes Nov/Dic 2026 para tono familiar navideño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630936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08B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Polar Multimedia · carpinteyro@polarmultimedia.com · polarmultimedia.com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Polar Multimedia · Carnot · AMG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AMG 2026 — Pitch Ejecutivo</dc:title>
  <dc:subject>PptxGenJS Presentation</dc:subject>
  <dc:creator>Polar Multimedia</dc:creator>
  <cp:lastModifiedBy>Polar Multimedia</cp:lastModifiedBy>
  <cp:revision>1</cp:revision>
  <dcterms:created xsi:type="dcterms:W3CDTF">2026-04-24T19:17:43Z</dcterms:created>
  <dcterms:modified xsi:type="dcterms:W3CDTF">2026-04-24T19:17:43Z</dcterms:modified>
</cp:coreProperties>
</file>