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0B8B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37160"/>
            <a:ext cx="12188952" cy="45720"/>
          </a:xfrm>
          <a:prstGeom prst="rect">
            <a:avLst/>
          </a:prstGeom>
          <a:solidFill>
            <a:srgbClr val="88702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AMG 2026 · COMUNIDAD DIGITAL APALANCADA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Construir una comunidad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permanente, no una campaña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avalado por AMG · Influencers médicos como motor · IA como amplificador · Mayo 2026 y los años que siguen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53035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303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Pitch Ejecutivo v1.1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Preparado por Polar Multimedia · Abril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problema que nadie ve hasta que es tarde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57600" cy="256032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de 10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mexicanos portan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H. pylori sin saberlo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657600" cy="256032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8288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90%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4434840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cáncer gástrico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 con esta bacteria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21040" y="1645920"/>
            <a:ext cx="3657600" cy="256032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8288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años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8321040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infección silenciosa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síntomas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Detectar H. pylori a tiempo y erradicarla reduce en 46% el riesgo absoluto de desarrollar cáncer gástrico. Y sin embargo, la mayoría de mexicanos no sabe que la porta — ni los médicos tienen las herramientas para detectarla rutinariamente.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Ford AC et al. Cochrane Database 2020 · IARC Monographs · Porras-Hurtado GL 2019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RESPUESTA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sistema integral de 5 capas interdependientes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85800" cy="68580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1732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 de verdad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193852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estratégico, calendario editorial, canon visual, corpus de mensajes aprobados, matriz compliance.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2441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Producción amplificada IA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28072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Generación de imágenes hiper-realistas, redacción multi-formato, adaptación a 4 aspect ratios.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685800" cy="6858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91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417320" y="3310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Revisión colaborativa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367588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interno con sidebar Dreamweaver, Firebase real-time, múltiples revisores simultáneos.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685800" cy="6858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1605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417320" y="41788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Distribución multi-canal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17320" y="454456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público · redes sociales · Visita Médica PWA · pack KOLs.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685800" cy="68580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0292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417320" y="50474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Medición y loop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54132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heterogéneos sintetizados por IA en insights accionables que alimentan el ciclo siguiente.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1 · STRATEGY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 única de verdad · skill amg-pylori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669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inteligencia estratégica aprobada vive en un único artefacto invocable por Claude. Antes de producir cualquier pieza, cualquier colaborador humano o IA lo consulta.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12724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017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estratégico de 8 meses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3872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429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Calendario editorial (12 claims × 35 semanas)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95020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40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Canon visual inviolable (paleta, franja, halo, V0-V6)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6168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251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Corpus de mensajes aprobados Carnot+AMG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7316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663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Referencias bibliográficas por claim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8464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compliance pharma MX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46304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1691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PRINCIPIO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0372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IA nunca inventa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03720" y="26974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recombina, expande y adapta contenido que ya fue aprobado por Carnot y AMG.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03720" y="3931920"/>
            <a:ext cx="4572000" cy="0"/>
          </a:xfrm>
          <a:prstGeom prst="line">
            <a:avLst/>
          </a:prstGeom>
          <a:noFill/>
          <a:ln w="12700">
            <a:solidFill>
              <a:srgbClr val="30B8B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 de custodia: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03720" y="43434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clínico Carnot  →  Libro AMG  →  Skill amg-pylori  →  Claude valida  →  Pieza final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2 · CREATION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IA produce en horas lo que antes tomaba semanas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65760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1691640"/>
            <a:ext cx="914400" cy="9144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🎨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Generación visual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gpt-image-1 (GPT Image 2)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fotos hiper-realistas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Personajes hispanos con prompt canónico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463040"/>
            <a:ext cx="365760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1691640"/>
            <a:ext cx="914400" cy="91440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0644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✍️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1772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Redacción multi-red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17720" y="32461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escribe copy específico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plataforma (IG, TikTok, FB, LI)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salirse del corpus aprobado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1463040"/>
            <a:ext cx="365760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0" y="1691640"/>
            <a:ext cx="914400" cy="91440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📐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0392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Adaptación 4 formatos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03920" y="32461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· 4:5 · 9:16 · 16:9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Recalcula jerarquía visual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cada pieza, no solo resize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4864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Resultado: 175 piezas finales para 8 meses de campaña producidas en días, con coherencia de canon 100% y 0 desviaciones de compliance.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3 · APPROVAL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 colaborativo con sincronización en tiempo real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400800" cy="4389120"/>
          </a:xfrm>
          <a:prstGeom prst="roundRect">
            <a:avLst>
              <a:gd name="adj" fmla="val 2083"/>
            </a:avLst>
          </a:prstGeom>
          <a:solidFill>
            <a:srgbClr val="0D1730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640080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sistema_piezas_AMG_Hub.html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636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164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2900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6636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9164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2900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6636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0" y="1920240"/>
            <a:ext cx="1828800" cy="3931920"/>
          </a:xfrm>
          <a:prstGeom prst="rect">
            <a:avLst/>
          </a:prstGeom>
          <a:solidFill>
            <a:srgbClr val="0D2248"/>
          </a:solidFill>
          <a:ln w="12700">
            <a:solidFill>
              <a:srgbClr val="0D22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1031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Sidebar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📝 Texto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12080" y="2880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🖼 Imagen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12080" y="3291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🎖 Sello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212080" y="37033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ℹ Pieza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9808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hub es uno de los diferenciadores del sistema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498080" y="21031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Reemplaza 20 correos de revisión con 1 sesión síncrona de 30 minutos donde Polar, Carnot, AMG y KOLs ven el mismo estado en tiempo real.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0" y="373075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0" y="36576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Edición multi-usuario en vivo (Firebase RTDB)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498080" y="405079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0" y="39776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Dreamweaver: Character/Paragraph/Caja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437083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4297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Generación IA de imagen integrada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498080" y="469087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0" y="46177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Bitácora de cambios con timestamp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498080" y="501091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0" y="49377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Aprobación pieza-por-pieza con estado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4 · DEPLOY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ductos, 4 audiencias, 1 sistema unificado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28800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Portal público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28600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mexicosincancergastrico.com.mx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+ artículos + detección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Abierto al paciente general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498080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Redes sociales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498080" y="228600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Instagram · TikTok · Facebook · LinkedIn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19-22 piezas/semana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Calendario programado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14800"/>
            <a:ext cx="822960" cy="82296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🩺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828800" y="4160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Visita Médica PWA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46634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reps · Tablets Android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Offline-first · 4 interactivos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Firebase cuando hay wifi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84048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114800"/>
            <a:ext cx="822960" cy="82296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498080" y="4160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 KOLs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98080" y="46634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influencers médicos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 mensual con artes + copy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Amplificación orgánica HCP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5 · ANALYTICS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loop que hace al sistema inteligente mes con mes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286000" y="210312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Publicación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 + hub + VM + KOLs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210312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 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APIs + Firebase + IMS Rx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457200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0" y="4800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Síntesis 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0" y="53035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report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0" y="457200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4800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Decisión ciclo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286000" y="53035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Calendario + pauta próxima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2788920"/>
            <a:ext cx="3200400" cy="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15400" y="3474720"/>
            <a:ext cx="0" cy="109728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72400" y="5257800"/>
            <a:ext cx="-3200400" cy="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4572000"/>
            <a:ext cx="0" cy="-109728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el sistema aprende de sí mismo. El vector "performance histórica" pesa 25% en el modelo de decisión del ciclo siguiente.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AMPLIFICACIÓN POR 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antes tomaba meses, hoy toma días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175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piezas finales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Campaña completa 8 meses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342900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fotos hiper-realistas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Personajes hispanos IA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400" dirty="0"/>
          </a:p>
        </p:txBody>
      </p:sp>
      <p:sp>
        <p:nvSpPr>
          <p:cNvPr id="15" name="Text 13"/>
          <p:cNvSpPr/>
          <p:nvPr/>
        </p:nvSpPr>
        <p:spPr>
          <a:xfrm>
            <a:off x="630936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claims clínicos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 4 formatos × 7 variantes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8972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972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918972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días por ciclo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8972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12-15 tradicionales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TRADICIONAL sin IA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~14 días por ciclo · 3 diseñadores + 2 copys + editor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IA · Sistema Polar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393192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días por ciclo · 1 director creativo + Claude + gpt-image-1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 DE REVISIÓN · USO INTERNO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Sidebar contextual con edición estilo Dreamweaver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858000" cy="4572000"/>
          </a:xfrm>
          <a:prstGeom prst="rect">
            <a:avLst/>
          </a:prstGeom>
          <a:solidFill>
            <a:srgbClr val="0F1629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6858000" cy="41148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AMG — Modo Revisión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965960"/>
            <a:ext cx="2103120" cy="4160520"/>
          </a:xfrm>
          <a:prstGeom prst="rect">
            <a:avLst/>
          </a:prstGeom>
          <a:solidFill>
            <a:srgbClr val="0D1730"/>
          </a:solidFill>
          <a:ln w="12700">
            <a:solidFill>
              <a:srgbClr val="0D17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📝 Texto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4924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🖼 Imagen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4924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🎖 Sello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349240" y="3063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ℹ Pieza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4924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CHARACTER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349240" y="38404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  Montserrat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49240" y="409651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      32px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49240" y="435254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 800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9240" y="460857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  #30B8B0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22960" y="228600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0F0F5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6517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de 10</a:t>
            </a:r>
            <a:endParaRPr lang="en-US" sz="68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mexicanos la portan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0" y="1645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Diferenciador técnico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0" y="230428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000" y="2194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Edición en vivo Firebase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01000" y="2514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Múltiples revisores ven cambios al instante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0" y="308152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100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Character &amp; Paragraph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01000" y="3291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Family, size, weight, color, alignment, tracking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385876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1000" y="37490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Caja (contenedor)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100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Modifica dimensiones y padding del texto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0" y="463600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01000" y="45262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Generación IA integrada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01000" y="48463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Botón 🎨 regenera foto con prompt canónico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772400" y="541324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01000" y="5303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Bitácora de saves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01000" y="5623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Timestamp, autor y estado de cada edición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VISITA MÉDICA PWA · 150 REPS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interactivos que transforman el detailing en consultorio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3736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Calculadora de riesgo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preguntas clínicas · Score 0-17 · Semáforo de riesgo · Recomendación de prueba basada en Maastricht VI.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828800"/>
            <a:ext cx="731520" cy="73152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🧬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40664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Visor 3D anatómico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06640" y="224028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Estómago navegable (Three.js) con hotspots de progresión Correa: mucosa sana → gastritis → atrofia → metaplasia → displasia → cáncer.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51960"/>
            <a:ext cx="731520" cy="73152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51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42062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Comparador Ki-CAB vs triple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37360" y="4663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Eficacia 92% vs 74% · 7 vs 14 días · Resistencia claritromicina por región de México · Interacciones farmacológicas.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88620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251960"/>
            <a:ext cx="731520" cy="73152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251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06640" y="42062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QR de seguimiento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4663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Formulario de cierre de visita · Genera QR personalizado que el médico escanea · Se sincroniza a dashboard Polar.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instalable desde navegador · funciona sin wifi · sincroniza analytics al volver a oficina.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PORTAL · DESTINO CENTRAL DE LA COMUNIDAD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mexicosincancergastrico.com.mx no es campaña. Es asset permanente.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D224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el sistema lleva al mismo lugar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 sociales · Influencers · Fuerza de ventas · Materiales institucionales AMG — todos dirigen tráfico con UTM de atribución al portal, donde el visitante anónimo se convierte en usuario registrado y miembro recurrente de la comunidad.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517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+500k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visitas objetivo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 de campaña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56032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26517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+80k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520440" y="35661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 registrados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construyen comunidad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256032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6517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400800" y="35661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ciclos mensuales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contenido nuevo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89720" y="256032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9720" y="26517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∞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81160" y="35661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 permanente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post-campaña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📈 Crecimiento por ciclos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el portal recibe contenido nuevo: artículos, casos clínicos anonimizados, testimonios, referencias bibliográficas. El usuario que se registra regresa mensualmente por lo nuevo — no es visita única, es comunidad recurrente.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17920" y="448056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🏛️ Apalancamiento AMG permanente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46520" y="49377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aval institucional de la AMG trasciende el calendario Carnot. Al cerrar los 8 ciclos, el portal no se apaga: queda como referencia pública permanente sobre H. pylori en México, avalada por la AMG — un asset digital con valor de años.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INFLUENCERS MÉDICOS · MOTOR PRINCIPAL DE LA COMUNIDAD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 6 que llevan al paciente mexicano al portal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08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08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25880" y="1463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Dr. Luis Raúl Valdovinos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AMG Institucional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HCP especialista  ·  Aval institucional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 de eficacia de erradicación &gt;90% en materiales con marca Ki-CAB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2615184"/>
            <a:ext cx="5120640" cy="201168"/>
          </a:xfrm>
          <a:prstGeom prst="rect">
            <a:avLst/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1518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Convenio Polar-AMG (sin costo)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508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08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95160" y="1463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@doctormiguelpadilla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· Médico familiar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10312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Pacientes y cuidadores  ·  100K+ seguidores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0" y="2331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Reels + 3 Stories/mes · Eje "Por qué la gastritis recurrente merece segunda opinión"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0" y="261518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61518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$25,000 – $40,000 MXN / mes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01752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5468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154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2588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@pologuerrero.med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258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· Médico humor y trend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374904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Adultos 25-40 preventivos  ·  80K+ seguidores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1520" y="3977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TikToks + 2 Reels/mes · Gancho "7 de cada 10 mexicanos la tienen"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6110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26110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$20,000 – $35,000 MXN / mes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17920" y="301752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315468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3154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@drasuarezgastro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9516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70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 · Gastroenteróloga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0" y="374904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Pacientes GI + médicos generales  ·  30K – 60K seguidores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400800" y="3977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posts/mes (carrusel + Reel) · Eje "Lo que tu gastro quiere que sepas"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0" y="426110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426110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$10,000 – $18,000 MXN / mes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466344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1520" y="48006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48006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2588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@doclaurasalazar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32588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70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3 · Salud preventiva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Mujeres 30-50, salud familiar  ·  15K – 30K seguidores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31520" y="5623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Stories + 1 Reel/mes · Eje "La bacteria que pasa de mamá a hijos"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1520" y="590702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90702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$5,000 – $10,000 MXN / mes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17920" y="466344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00800" y="48006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0800" y="48006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9516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@doctorvic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99516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70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3 · Audiencia joven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0" y="53949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Millennials + GenZ  ·  20K – 40K seguidores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00800" y="5623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TikToks/mes · Eje "La prueba de aliento que ni sabías que existe"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400800" y="590702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0" y="590702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$5,000 – $8,000 MXN / mes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48640" y="630936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Rango total pool influencers pagados: $65,000 – $111,000 MXN/mes · Los KOLs institucionales AMG (Valdovinos, Coss Adame, Noble) participan sin costo por convenio.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 DE CICLO · KOLs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cada influencer médico recibe cada mes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17830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Brief clínico del ciclo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2402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2-3 referencias bibliográficas clave + claim médico del mes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5544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182880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0" y="17830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Copy sugerido en su voz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22402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Adaptado por red (LinkedIn · X · IG · TikTok) y por KOL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321040" y="15544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182880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372600" y="17830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Artes listas para publicar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72600" y="22402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paleta ligada a campaña + sello AMG + hashtag #MéxicoSinCáncerGástrico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393192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00200" y="3886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intro 30s Carnot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00200" y="43434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Contextualización del mes grabada por dirección médica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36576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393192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486400" y="3886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Guía de conversación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0" y="43434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escenarios de preguntas típicas y cómo responder con evidencia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21040" y="36576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0" y="393192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372600" y="3886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UTM propio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372600" y="43434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único por KOL para medir conversiones atribuidas a cada uno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pack se entrega desde el hub con URL privada única por KOL. Contrato incluye cláusula compliance COFEPRIS + CETIFARMA + derecho de auditoría AMG.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CALENDARIO EDITORIAL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ciclos mensuales · 12 claims clínicos · 35 semanas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838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269748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MAY · Ciclo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bacteria silenciosa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2900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0B8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54480"/>
            <a:ext cx="269748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 · Ciclo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Diagnóstico sin pretextos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pruebas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6616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 hrs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8870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554480"/>
            <a:ext cx="2697480" cy="457200"/>
          </a:xfrm>
          <a:prstGeom prst="rect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 · Ciclo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Tratamiento que funciona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92%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días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838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89720" y="1554480"/>
            <a:ext cx="269748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972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 · Ciclo 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2688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Atrofia y metaplasia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riesgo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2688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vigilancia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0B8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40480"/>
            <a:ext cx="269748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 · Ciclo 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Adherencia y seguimiento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89%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éxito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42900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88702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29000" y="3840480"/>
            <a:ext cx="2697480" cy="457200"/>
          </a:xfrm>
          <a:prstGeom prst="rect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2900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 · Ciclo 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56616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Reflujo y úlceras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56616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2×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56616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complicación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0936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838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9360" y="3840480"/>
            <a:ext cx="269748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 · Ciclo 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4652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Prevención y evidencia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44652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&gt;90%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4652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curación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18972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0B8B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89720" y="3840480"/>
            <a:ext cx="269748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8972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DIC · Ciclo 8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32688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Cierre y regalo de salud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32688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Familia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932688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Claridad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MÉTRICAS POR RED SOCIAL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red se mide con lo que importa en ESA 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0312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554480"/>
            <a:ext cx="246888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24912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de atención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1554480"/>
            <a:ext cx="228600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15544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de utilidad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06640" y="1554480"/>
            <a:ext cx="274320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79792" y="15544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de conversión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149840" y="1554480"/>
            <a:ext cx="14630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2992" y="15544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Volumen/semana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2103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0574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 Feed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51760" y="205740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20574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3.2%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20640" y="205740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3792" y="20574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2.1%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6640" y="205740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057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CTR 1.8%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149840" y="2057400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22992" y="20574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2606040"/>
            <a:ext cx="210312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26060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 Stories/Reels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651760" y="2606040"/>
            <a:ext cx="246888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24912" y="26060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Watch-through 65%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20640" y="2606040"/>
            <a:ext cx="22860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93792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Tap-back 8%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06640" y="2606040"/>
            <a:ext cx="27432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 CTR 2.5%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149840" y="2606040"/>
            <a:ext cx="146304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22992" y="2606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5+2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3154680"/>
            <a:ext cx="2103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31546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TikTok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651760" y="315468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24912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&gt;3s 78%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120640" y="315468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93792" y="31546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42%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0" y="315468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79792" y="31546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Shares/1K 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149840" y="3154680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22992" y="3154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2-3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3703320"/>
            <a:ext cx="210312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" y="37033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651760" y="3703320"/>
            <a:ext cx="246888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24912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12%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120640" y="3703320"/>
            <a:ext cx="22860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93792" y="37033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CTR 1.4%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406640" y="3703320"/>
            <a:ext cx="27432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79792" y="3703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0.9%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0149840" y="3703320"/>
            <a:ext cx="146304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222992" y="37033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48640" y="4251960"/>
            <a:ext cx="2103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1792" y="4251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LinkedIn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651760" y="425196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24912" y="42519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Impr. HCP 35%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120640" y="425196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3792" y="4251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Especialistas 2.8%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406640" y="425196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79792" y="42519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→/para-medicos 3.1%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0149840" y="4251960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22992" y="42519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1-2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48640" y="4800600"/>
            <a:ext cx="11064240" cy="502920"/>
          </a:xfrm>
          <a:prstGeom prst="rect">
            <a:avLst/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" y="4800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semana (ciclo activo): 19-22 piezas publicadas en los 4 canales principales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Detalle completo en Anexo Excel · Matriz_Metricas_Calendarios_AMG_2026.xlsx (7 hojas)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DECISIÓN ALGORÍTMICA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pieza va a qué red esta semana · 7 vectores ponderados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 del ciclo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554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mensual Carnot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148840"/>
            <a:ext cx="922020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1488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37360" y="2148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histórica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21488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mes anterior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743200"/>
            <a:ext cx="553212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74320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Audiencia activa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7432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HCP vs paciente / día-hora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368808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33756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37360" y="3337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Estacionalidad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33375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Efemérides salud 2026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931920"/>
            <a:ext cx="368808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737360" y="3931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 de producción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creativo de la semana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4526280"/>
            <a:ext cx="184404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5262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737360" y="4526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Disponibilidad KOL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43600" y="45262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Agendas contractuales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5120640"/>
            <a:ext cx="184404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206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737360" y="51206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Compliance override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43600" y="51206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Bloqueo si hay pendiente legal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lunes Polar corre el modelo con datos actualizados. Produce ranking de piezas → Claude genera variantes → equipo revisa en hub → Carnot aprueba → se programa.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GOBIERNO DEL SISTEMA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actores, roles claros, SLAs medibles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Polar Multimedia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Orquestador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645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Producción + hub + PWA + pauta + reportes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686800" y="169164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0" y="1691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 semanal listo miércoles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42316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468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Carnot Laboratorios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788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 &amp; marca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0" y="2514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clínica + compliance comercial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256032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Feedback en 48 hrs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29184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337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AMG A.C.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 científico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33832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corpus + escudo AMG + auditoría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0" y="342900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0" y="34290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Aprobación científica 72 hrs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6052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06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Fuerza de ventas (150)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4526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Distribución médica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0" y="4251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PWA + bitácora + sync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686800" y="429768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4297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visitas/semana mín.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02920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074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KOLs (6 pool)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77240" y="5394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Credibilidad orgánica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0" y="5120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Publicación según pack + reporte métricas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86800" y="516636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dentro de semana agendada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ESPERADOS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queremos que pase al cierre de los 8 ciclos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+80k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 registrados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el portal (comunidad)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+500k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361188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visitas únicas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mexicosincancergastrico.com.mx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+35%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49224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adopción de vocabulario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H. pylori en pacientes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8972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75k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937260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alcance por post KOL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comunidad HCP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 más importante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comunidad digital permanente avalada por la AMG, con 80 mil usuarios registrados que regresan cada mes al portal — asset de largo plazo para Carnot y para la salud pública de México.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 PRÓXIMOS 5 CICLOS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 la misma arquitectura, capacidades crecientes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30B8B0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1600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Abril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activo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737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ciclos (May-Jul) + 4 interactivos + PWA + KOLs Tier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301752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423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Agosto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8016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v1.1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Heatmap prevalencia México por estado · Timeline contagio→cáncer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384048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Septiembre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80160" y="3474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v1.2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38328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Simulador diálogo médico-paciente (ramificación) · PDF generator local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114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466344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4069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Octubre-Nov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4297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v1.3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38328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gerencia 150 reps en tiempo real · KOLs Tier 2 y 3 activados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93776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4892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Diciembre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v2.0 &amp; cierre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383280" y="5029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3D .glb alta fidelidad · Audio embebido · Reporte institucional cierre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0B8B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37160"/>
            <a:ext cx="12188952" cy="45720"/>
          </a:xfrm>
          <a:prstGeom prst="rect">
            <a:avLst/>
          </a:prstGeom>
          <a:solidFill>
            <a:srgbClr val="88702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20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2743200" cy="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AMG 2026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Listo para empezar el ciclo 3 · Julio 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477316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47091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Confirmar roster final de KOLs Tier 1 · contratar Tier 2 y 3 en reclutamiento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513892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5074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Revisión conjunta Polar-Carnot-AMG del piloto ciclo 1 al cierre de mayo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550468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de 150 reps a la Visita Médica PWA (2 sesiones en mayo)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587044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5806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Aprobación de ajustes Nov/Dic 2026 para tono familiar navideño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630936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0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carpinteyro@polarmultimedia.com · polarmultimedia.com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Polar Multimedia · Carnot · AMG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AMG 2026 — Pitch Ejecutivo</dc:title>
  <dc:subject>PptxGenJS Presentation</dc:subject>
  <dc:creator>Polar Multimedia</dc:creator>
  <cp:lastModifiedBy>Polar Multimedia</cp:lastModifiedBy>
  <cp:revision>1</cp:revision>
  <dcterms:created xsi:type="dcterms:W3CDTF">2026-04-24T19:25:11Z</dcterms:created>
  <dcterms:modified xsi:type="dcterms:W3CDTF">2026-04-24T19:25:11Z</dcterms:modified>
</cp:coreProperties>
</file>